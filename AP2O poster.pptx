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9" r:id="rId2"/>
  </p:sldIdLst>
  <p:sldSz cx="25199975" cy="37799963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81" userDrawn="1">
          <p15:clr>
            <a:srgbClr val="A4A3A4"/>
          </p15:clr>
        </p15:guide>
        <p15:guide id="2" pos="79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74CC"/>
    <a:srgbClr val="194374"/>
    <a:srgbClr val="BCBABA"/>
    <a:srgbClr val="D1D1D1"/>
    <a:srgbClr val="B7B6B6"/>
    <a:srgbClr val="FFFFFF"/>
    <a:srgbClr val="FFE8CC"/>
    <a:srgbClr val="C34E5C"/>
    <a:srgbClr val="C75967"/>
    <a:srgbClr val="C046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4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568" y="-132"/>
      </p:cViewPr>
      <p:guideLst>
        <p:guide orient="horz" pos="11981"/>
        <p:guide pos="79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6186247"/>
            <a:ext cx="21419979" cy="13159987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9853733"/>
            <a:ext cx="18899981" cy="9126238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0120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22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9423752"/>
            <a:ext cx="21734978" cy="15723732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5296236"/>
            <a:ext cx="21734978" cy="8268739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86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10062490"/>
            <a:ext cx="10709989" cy="239837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10062490"/>
            <a:ext cx="10709989" cy="239837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210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2012506"/>
            <a:ext cx="21734978" cy="730624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9266244"/>
            <a:ext cx="10660769" cy="4541243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807486"/>
            <a:ext cx="10660769" cy="203087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9266244"/>
            <a:ext cx="10713272" cy="4541243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807486"/>
            <a:ext cx="10713272" cy="203087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17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770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79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519998"/>
            <a:ext cx="8127648" cy="8819991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442503"/>
            <a:ext cx="12757487" cy="26862474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1339989"/>
            <a:ext cx="8127648" cy="21008732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4985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519998"/>
            <a:ext cx="8127648" cy="8819991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442503"/>
            <a:ext cx="12757487" cy="26862474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1339989"/>
            <a:ext cx="8127648" cy="21008732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2026/1/16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12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617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2012498"/>
            <a:ext cx="5433745" cy="320337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2012498"/>
            <a:ext cx="15986234" cy="3203372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997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1257501" y="8572547"/>
            <a:ext cx="10816229" cy="2540013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0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13125621" y="8572547"/>
            <a:ext cx="10804082" cy="2540013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05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57501" y="4266433"/>
            <a:ext cx="22679643" cy="3022219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477799" y="13692259"/>
            <a:ext cx="20253935" cy="561581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27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2477799" y="19625581"/>
            <a:ext cx="20253935" cy="259954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308" spc="175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2012506"/>
            <a:ext cx="21734978" cy="7306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10062490"/>
            <a:ext cx="21734978" cy="2398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5034974"/>
            <a:ext cx="5669994" cy="20124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5034974"/>
            <a:ext cx="8504992" cy="20124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5034974"/>
            <a:ext cx="5669994" cy="20124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666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60" r:id="rId12"/>
    <p:sldLayoutId id="2147483661" r:id="rId13"/>
    <p:sldLayoutId id="2147483662" r:id="rId14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1" Type="http://schemas.openxmlformats.org/officeDocument/2006/relationships/tags" Target="../tags/tag1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>
            <a:extLst>
              <a:ext uri="{FF2B5EF4-FFF2-40B4-BE49-F238E27FC236}">
                <a16:creationId xmlns:a16="http://schemas.microsoft.com/office/drawing/2014/main" id="{232D707C-9F7E-DF02-3FBE-62347839F3A2}"/>
              </a:ext>
            </a:extLst>
          </p:cNvPr>
          <p:cNvSpPr txBox="1"/>
          <p:nvPr/>
        </p:nvSpPr>
        <p:spPr>
          <a:xfrm>
            <a:off x="2088619" y="396656"/>
            <a:ext cx="21022736" cy="2079360"/>
          </a:xfrm>
          <a:prstGeom prst="rect">
            <a:avLst/>
          </a:prstGeom>
          <a:noFill/>
          <a:ln>
            <a:noFill/>
          </a:ln>
        </p:spPr>
        <p:txBody>
          <a:bodyPr lIns="294840" tIns="147600" rIns="294840" bIns="147600" anchor="ctr">
            <a:noAutofit/>
          </a:bodyPr>
          <a:lstStyle/>
          <a:p>
            <a:pPr algn="ctr"/>
            <a:r>
              <a:rPr lang="en-US" sz="5860" b="1" strike="noStrike" spc="-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AP2O-Coder</a:t>
            </a:r>
            <a:r>
              <a:rPr lang="en-US" sz="5860" strike="noStrike" spc="-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Adaptively Progressive Preference Optimization for Reducing Compilation and Runtime Errors in LLM-Generated Code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D57F6317-E05F-094B-E648-11FC3DEBFA9E}"/>
              </a:ext>
            </a:extLst>
          </p:cNvPr>
          <p:cNvSpPr/>
          <p:nvPr/>
        </p:nvSpPr>
        <p:spPr>
          <a:xfrm>
            <a:off x="6233641" y="2599475"/>
            <a:ext cx="12732692" cy="712997"/>
          </a:xfrm>
          <a:prstGeom prst="roundRect">
            <a:avLst>
              <a:gd name="adj" fmla="val 48729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Jianqing Zhang, Wei Xia, Hande Dong, Qiang Lin, Jian Cao</a:t>
            </a:r>
            <a:endParaRPr lang="en-US" altLang="zh-CN" sz="4000" b="1" baseline="30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8D8F29E6-A1C9-6D69-CE6F-9EEBB0FA0086}"/>
              </a:ext>
            </a:extLst>
          </p:cNvPr>
          <p:cNvGrpSpPr/>
          <p:nvPr/>
        </p:nvGrpSpPr>
        <p:grpSpPr>
          <a:xfrm>
            <a:off x="1054440" y="4172726"/>
            <a:ext cx="11810660" cy="2430318"/>
            <a:chOff x="1054440" y="2991626"/>
            <a:chExt cx="11810660" cy="2430318"/>
          </a:xfrm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F9671D35-3289-7255-0611-74AE8712447E}"/>
                </a:ext>
              </a:extLst>
            </p:cNvPr>
            <p:cNvSpPr/>
            <p:nvPr/>
          </p:nvSpPr>
          <p:spPr>
            <a:xfrm>
              <a:off x="1054440" y="2991626"/>
              <a:ext cx="6096987" cy="708484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Calibri" panose="020F0502020204030204" pitchFamily="34" charset="0"/>
                  <a:cs typeface="Calibri" panose="020F0502020204030204" pitchFamily="34" charset="0"/>
                </a:rPr>
                <a:t>AI Coding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82603431-A79D-9A9E-16CA-FB5F04B3CC2D}"/>
                </a:ext>
              </a:extLst>
            </p:cNvPr>
            <p:cNvSpPr txBox="1"/>
            <p:nvPr/>
          </p:nvSpPr>
          <p:spPr>
            <a:xfrm>
              <a:off x="1054440" y="3913839"/>
              <a:ext cx="11810660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 err="1"/>
                <a:t>CodeBuddy</a:t>
              </a:r>
              <a:r>
                <a:rPr lang="en-US" altLang="zh-CN" sz="3200" b="1" dirty="0"/>
                <a:t>,</a:t>
              </a:r>
              <a:r>
                <a:rPr lang="en-US" altLang="zh-CN" sz="3200" b="1" dirty="0">
                  <a:solidFill>
                    <a:srgbClr val="C00000"/>
                  </a:solidFill>
                </a:rPr>
                <a:t> </a:t>
              </a:r>
              <a:r>
                <a:rPr lang="en-US" altLang="zh-CN" sz="3200" dirty="0"/>
                <a:t>Cursor, Claude Code, Trae, etc. </a:t>
              </a:r>
            </a:p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/>
                <a:t>Code generation</a:t>
              </a:r>
              <a:r>
                <a:rPr lang="en-US" altLang="zh-CN" sz="3200" dirty="0"/>
                <a:t>, code editing, code agent, etc.</a:t>
              </a:r>
            </a:p>
            <a:p>
              <a:pPr marL="457200" indent="-457200">
                <a:buFont typeface="Wingdings" panose="05000000000000000000" pitchFamily="2" charset="2"/>
                <a:buChar char="l"/>
              </a:pPr>
              <a:endParaRPr lang="en-US" altLang="zh-CN" sz="28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278A0A1-E161-E532-CE8E-C0412474F056}"/>
              </a:ext>
            </a:extLst>
          </p:cNvPr>
          <p:cNvGrpSpPr/>
          <p:nvPr/>
        </p:nvGrpSpPr>
        <p:grpSpPr>
          <a:xfrm>
            <a:off x="12599987" y="4172726"/>
            <a:ext cx="11810660" cy="5938971"/>
            <a:chOff x="1054440" y="2991626"/>
            <a:chExt cx="11810660" cy="5938971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9A8C842C-E8AF-BEDC-83B6-852AC8612FAD}"/>
                </a:ext>
              </a:extLst>
            </p:cNvPr>
            <p:cNvSpPr/>
            <p:nvPr/>
          </p:nvSpPr>
          <p:spPr>
            <a:xfrm>
              <a:off x="1054440" y="2991626"/>
              <a:ext cx="6096987" cy="708484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Calibri" panose="020F0502020204030204" pitchFamily="34" charset="0"/>
                  <a:cs typeface="Calibri" panose="020F0502020204030204" pitchFamily="34" charset="0"/>
                </a:rPr>
                <a:t>Overview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B878E62C-3957-CD3F-C030-C231DF4EA391}"/>
                </a:ext>
              </a:extLst>
            </p:cNvPr>
            <p:cNvSpPr txBox="1"/>
            <p:nvPr/>
          </p:nvSpPr>
          <p:spPr>
            <a:xfrm>
              <a:off x="1054440" y="3913839"/>
              <a:ext cx="11810660" cy="501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>
                  <a:solidFill>
                    <a:srgbClr val="C00000"/>
                  </a:solidFill>
                </a:rPr>
                <a:t>Problem: </a:t>
              </a:r>
              <a:r>
                <a:rPr lang="en-US" altLang="zh-CN" sz="3200" dirty="0"/>
                <a:t>LLM-generated code has </a:t>
              </a:r>
              <a:r>
                <a:rPr lang="en-US" altLang="zh-CN" sz="3200" b="1" dirty="0"/>
                <a:t>compilation or runtime errors</a:t>
              </a:r>
            </a:p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>
                  <a:solidFill>
                    <a:srgbClr val="C00000"/>
                  </a:solidFill>
                </a:rPr>
                <a:t>Goal: </a:t>
              </a:r>
              <a:r>
                <a:rPr lang="en-US" altLang="zh-CN" sz="3200" dirty="0"/>
                <a:t>Reduce code errors, improve</a:t>
              </a:r>
              <a:r>
                <a:rPr lang="en-US" altLang="zh-CN" sz="3200" b="1" dirty="0"/>
                <a:t> pass rate </a:t>
              </a:r>
              <a:r>
                <a:rPr lang="en-US" altLang="zh-CN" sz="3200" dirty="0"/>
                <a:t>&amp;</a:t>
              </a:r>
              <a:r>
                <a:rPr lang="en-US" altLang="zh-CN" sz="3200" b="1" dirty="0"/>
                <a:t> </a:t>
              </a:r>
              <a:r>
                <a:rPr lang="en-US" altLang="zh-CN" sz="3200" b="1" u="sng" dirty="0"/>
                <a:t>acceptance rate</a:t>
              </a:r>
            </a:p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>
                  <a:solidFill>
                    <a:srgbClr val="C00000"/>
                  </a:solidFill>
                </a:rPr>
                <a:t>Solution: </a:t>
              </a:r>
              <a:r>
                <a:rPr lang="en-US" altLang="zh-CN" sz="3200" dirty="0"/>
                <a:t>Progressive optimization + adaptive replay</a:t>
              </a:r>
            </a:p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/>
                <a:t>Results</a:t>
              </a:r>
              <a:r>
                <a:rPr lang="en-US" altLang="zh-CN" sz="3200" dirty="0"/>
                <a:t>: </a:t>
              </a:r>
              <a:r>
                <a:rPr lang="en-US" altLang="zh-CN" sz="3200" b="1" dirty="0" err="1"/>
                <a:t>pass@k</a:t>
              </a:r>
              <a:r>
                <a:rPr lang="en-US" altLang="zh-CN" sz="3200" dirty="0"/>
                <a:t> </a:t>
              </a:r>
              <a:r>
                <a:rPr lang="en-US" altLang="zh-CN" sz="3200" dirty="0">
                  <a:solidFill>
                    <a:srgbClr val="C00000"/>
                  </a:solidFill>
                </a:rPr>
                <a:t>+</a:t>
              </a:r>
              <a:r>
                <a:rPr lang="en-US" altLang="zh-CN" sz="3200" b="1" dirty="0">
                  <a:solidFill>
                    <a:srgbClr val="C00000"/>
                  </a:solidFill>
                </a:rPr>
                <a:t>3%</a:t>
              </a:r>
              <a:r>
                <a:rPr lang="en-US" altLang="zh-CN" sz="3200" dirty="0"/>
                <a:t> for </a:t>
              </a:r>
              <a:r>
                <a:rPr lang="en-US" altLang="zh-CN" sz="3200" b="1" dirty="0"/>
                <a:t>0.5B~34B LLM </a:t>
              </a:r>
              <a:r>
                <a:rPr lang="en-US" altLang="zh-CN" sz="3200" dirty="0"/>
                <a:t>on </a:t>
              </a:r>
              <a:r>
                <a:rPr lang="en-US" altLang="zh-CN" sz="3200" i="1" u="sng" dirty="0" err="1"/>
                <a:t>EvalPlus</a:t>
              </a:r>
              <a:r>
                <a:rPr lang="en-US" altLang="zh-CN" sz="3200" dirty="0"/>
                <a:t>, </a:t>
              </a:r>
              <a:r>
                <a:rPr lang="en-US" altLang="zh-CN" sz="3200" i="1" u="sng" dirty="0" err="1"/>
                <a:t>LiveCodeBench</a:t>
              </a:r>
              <a:endParaRPr lang="en-US" altLang="zh-CN" sz="3200" i="1" u="sng" dirty="0"/>
            </a:p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/>
                <a:t>Models: </a:t>
              </a:r>
              <a:r>
                <a:rPr lang="en-US" altLang="zh-CN" sz="3200" dirty="0"/>
                <a:t>Qwen2.5-Coder, </a:t>
              </a:r>
              <a:r>
                <a:rPr lang="en-US" altLang="zh-CN" sz="3200" dirty="0" err="1"/>
                <a:t>CodeLlama</a:t>
              </a:r>
              <a:r>
                <a:rPr lang="en-US" altLang="zh-CN" sz="3200" dirty="0"/>
                <a:t>, DeepSeek-Coder, Qwen2.5, Llama3, Qwen3</a:t>
              </a:r>
            </a:p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/>
                <a:t>Bonus</a:t>
              </a:r>
              <a:r>
                <a:rPr lang="en-US" altLang="zh-CN" sz="3200" dirty="0"/>
                <a:t>: Reduce </a:t>
              </a:r>
              <a:r>
                <a:rPr lang="en-US" altLang="zh-CN" sz="3200" b="1" dirty="0"/>
                <a:t>data requirement </a:t>
              </a:r>
              <a:r>
                <a:rPr lang="en-US" altLang="zh-CN" sz="3200" dirty="0"/>
                <a:t>greatly (only using 4%~60% data) </a:t>
              </a:r>
            </a:p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/>
                <a:t>Findings</a:t>
              </a:r>
              <a:r>
                <a:rPr lang="en-US" altLang="zh-CN" sz="3200" dirty="0"/>
                <a:t>:</a:t>
              </a:r>
            </a:p>
            <a:p>
              <a:pPr marL="971550" lvl="1" indent="-514350">
                <a:buFont typeface="Wingdings" panose="05000000000000000000" pitchFamily="2" charset="2"/>
                <a:buChar char="l"/>
              </a:pPr>
              <a:r>
                <a:rPr lang="en-US" altLang="zh-CN" sz="3200" b="1" dirty="0"/>
                <a:t>Poor models</a:t>
              </a:r>
              <a:r>
                <a:rPr lang="en-US" altLang="zh-CN" sz="3200" dirty="0"/>
                <a:t>: Progressing from </a:t>
              </a:r>
              <a:r>
                <a:rPr lang="en-US" altLang="zh-CN" sz="3200" b="1" dirty="0"/>
                <a:t>low to high </a:t>
              </a:r>
              <a:r>
                <a:rPr lang="en-US" altLang="zh-CN" sz="3200" dirty="0"/>
                <a:t>error frequency</a:t>
              </a:r>
            </a:p>
            <a:p>
              <a:pPr marL="971550" lvl="1" indent="-514350">
                <a:buFont typeface="Wingdings" panose="05000000000000000000" pitchFamily="2" charset="2"/>
                <a:buChar char="l"/>
              </a:pPr>
              <a:r>
                <a:rPr lang="en-US" altLang="zh-CN" sz="3200" b="1" dirty="0"/>
                <a:t>Strong models</a:t>
              </a:r>
              <a:r>
                <a:rPr lang="en-US" altLang="zh-CN" sz="3200" dirty="0"/>
                <a:t>: Progressing from </a:t>
              </a:r>
              <a:r>
                <a:rPr lang="en-US" altLang="zh-CN" sz="3200" b="1" dirty="0"/>
                <a:t>high to low </a:t>
              </a:r>
              <a:r>
                <a:rPr lang="en-US" altLang="zh-CN" sz="3200" dirty="0"/>
                <a:t>error frequency</a:t>
              </a:r>
            </a:p>
          </p:txBody>
        </p:sp>
      </p:grpSp>
      <p:pic>
        <p:nvPicPr>
          <p:cNvPr id="69" name="图片 68" descr="图形用户界面&#10;&#10;AI 生成的内容可能不正确。">
            <a:extLst>
              <a:ext uri="{FF2B5EF4-FFF2-40B4-BE49-F238E27FC236}">
                <a16:creationId xmlns:a16="http://schemas.microsoft.com/office/drawing/2014/main" id="{6F976EC9-B48B-24B3-6557-022B0D5C6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40" y="6392716"/>
            <a:ext cx="11305680" cy="7615114"/>
          </a:xfrm>
          <a:prstGeom prst="rect">
            <a:avLst/>
          </a:prstGeom>
        </p:spPr>
      </p:pic>
      <p:grpSp>
        <p:nvGrpSpPr>
          <p:cNvPr id="70" name="组合 69">
            <a:extLst>
              <a:ext uri="{FF2B5EF4-FFF2-40B4-BE49-F238E27FC236}">
                <a16:creationId xmlns:a16="http://schemas.microsoft.com/office/drawing/2014/main" id="{F39110D3-CE70-C0C4-EA08-EF5849D0E03B}"/>
              </a:ext>
            </a:extLst>
          </p:cNvPr>
          <p:cNvGrpSpPr/>
          <p:nvPr/>
        </p:nvGrpSpPr>
        <p:grpSpPr>
          <a:xfrm>
            <a:off x="1054440" y="14784003"/>
            <a:ext cx="11545547" cy="2491873"/>
            <a:chOff x="1054440" y="2991626"/>
            <a:chExt cx="11545547" cy="2491873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D489AEF6-BF3A-5C3D-FF84-5E39DDF9F303}"/>
                </a:ext>
              </a:extLst>
            </p:cNvPr>
            <p:cNvSpPr/>
            <p:nvPr/>
          </p:nvSpPr>
          <p:spPr>
            <a:xfrm>
              <a:off x="1054440" y="2991626"/>
              <a:ext cx="6096987" cy="708484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Calibri" panose="020F0502020204030204" pitchFamily="34" charset="0"/>
                  <a:cs typeface="Calibri" panose="020F0502020204030204" pitchFamily="34" charset="0"/>
                </a:rPr>
                <a:t>Existing Methods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BF9BFDA0-6297-B464-97DA-C9BA62BC4BF3}"/>
                </a:ext>
              </a:extLst>
            </p:cNvPr>
            <p:cNvSpPr txBox="1"/>
            <p:nvPr/>
          </p:nvSpPr>
          <p:spPr>
            <a:xfrm>
              <a:off x="1054440" y="3913839"/>
              <a:ext cx="1154554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dirty="0"/>
                <a:t>Traditional DPO training for code generation</a:t>
              </a:r>
            </a:p>
            <a:p>
              <a:pPr marL="914400" lvl="1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>
                  <a:solidFill>
                    <a:srgbClr val="C00000"/>
                  </a:solidFill>
                </a:rPr>
                <a:t>Problem 1: </a:t>
              </a:r>
              <a:r>
                <a:rPr lang="en-US" altLang="zh-CN" sz="3200" dirty="0"/>
                <a:t>Unawareness of </a:t>
              </a:r>
              <a:r>
                <a:rPr lang="en-US" altLang="zh-CN" sz="3200" b="1" dirty="0"/>
                <a:t>code errors</a:t>
              </a:r>
            </a:p>
            <a:p>
              <a:pPr marL="914400" lvl="1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>
                  <a:solidFill>
                    <a:srgbClr val="C00000"/>
                  </a:solidFill>
                </a:rPr>
                <a:t>Problem 2: </a:t>
              </a:r>
              <a:r>
                <a:rPr lang="en-US" altLang="zh-CN" sz="3200" b="1" dirty="0"/>
                <a:t>cannot</a:t>
              </a:r>
              <a:r>
                <a:rPr lang="en-US" altLang="zh-CN" sz="3200" dirty="0"/>
                <a:t> </a:t>
              </a:r>
              <a:r>
                <a:rPr lang="en-US" altLang="zh-CN" sz="3200" b="1" dirty="0"/>
                <a:t>focus</a:t>
              </a:r>
              <a:r>
                <a:rPr lang="en-US" altLang="zh-CN" sz="3200" dirty="0"/>
                <a:t> on specific error types</a:t>
              </a:r>
              <a:r>
                <a:rPr lang="en-US" altLang="zh-CN" sz="3200" b="1" dirty="0"/>
                <a:t> (</a:t>
              </a:r>
              <a:r>
                <a:rPr lang="en-US" altLang="zh-CN" sz="3200" b="1" dirty="0" err="1"/>
                <a:t>KeyError</a:t>
              </a:r>
              <a:r>
                <a:rPr lang="en-US" altLang="zh-CN" sz="3200" b="1" dirty="0"/>
                <a:t>, etc.)</a:t>
              </a:r>
              <a:endParaRPr lang="en-US" altLang="zh-CN" sz="3200" dirty="0"/>
            </a:p>
          </p:txBody>
        </p:sp>
      </p:grpSp>
      <p:pic>
        <p:nvPicPr>
          <p:cNvPr id="73" name="图片 72">
            <a:extLst>
              <a:ext uri="{FF2B5EF4-FFF2-40B4-BE49-F238E27FC236}">
                <a16:creationId xmlns:a16="http://schemas.microsoft.com/office/drawing/2014/main" id="{F73F8DC9-AD76-4CC9-678E-24816479B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440" y="17489606"/>
            <a:ext cx="11545547" cy="5731328"/>
          </a:xfrm>
          <a:prstGeom prst="rect">
            <a:avLst/>
          </a:prstGeom>
        </p:spPr>
      </p:pic>
      <p:grpSp>
        <p:nvGrpSpPr>
          <p:cNvPr id="77" name="组合 76">
            <a:extLst>
              <a:ext uri="{FF2B5EF4-FFF2-40B4-BE49-F238E27FC236}">
                <a16:creationId xmlns:a16="http://schemas.microsoft.com/office/drawing/2014/main" id="{A938B9B2-B4D8-DAF3-4CD2-667117C17F4E}"/>
              </a:ext>
            </a:extLst>
          </p:cNvPr>
          <p:cNvGrpSpPr/>
          <p:nvPr/>
        </p:nvGrpSpPr>
        <p:grpSpPr>
          <a:xfrm>
            <a:off x="12599987" y="10795663"/>
            <a:ext cx="11545547" cy="1506988"/>
            <a:chOff x="1054440" y="2991626"/>
            <a:chExt cx="11545547" cy="1506988"/>
          </a:xfrm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796B1355-9AA3-BCC2-BCCE-305C6C05CA4A}"/>
                </a:ext>
              </a:extLst>
            </p:cNvPr>
            <p:cNvSpPr/>
            <p:nvPr/>
          </p:nvSpPr>
          <p:spPr>
            <a:xfrm>
              <a:off x="1054440" y="2991626"/>
              <a:ext cx="6096987" cy="708484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Calibri" panose="020F0502020204030204" pitchFamily="34" charset="0"/>
                  <a:cs typeface="Calibri" panose="020F0502020204030204" pitchFamily="34" charset="0"/>
                </a:rPr>
                <a:t>Our Method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145C9370-B325-FDF5-26EB-25D0D2890C09}"/>
                </a:ext>
              </a:extLst>
            </p:cNvPr>
            <p:cNvSpPr txBox="1"/>
            <p:nvPr/>
          </p:nvSpPr>
          <p:spPr>
            <a:xfrm>
              <a:off x="1054440" y="3913839"/>
              <a:ext cx="115455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l"/>
              </a:pPr>
              <a:r>
                <a:rPr lang="en-US" altLang="zh-CN" sz="3200" b="1" dirty="0"/>
                <a:t>Progressive preference optimization </a:t>
              </a:r>
              <a:r>
                <a:rPr lang="en-US" altLang="zh-CN" sz="3200" dirty="0"/>
                <a:t>+ </a:t>
              </a:r>
              <a:r>
                <a:rPr lang="en-US" altLang="zh-CN" sz="3200" b="1" dirty="0"/>
                <a:t>adaptive error replay</a:t>
              </a:r>
              <a:endParaRPr lang="en-US" altLang="zh-CN" sz="3200" dirty="0"/>
            </a:p>
          </p:txBody>
        </p:sp>
      </p:grpSp>
      <p:pic>
        <p:nvPicPr>
          <p:cNvPr id="80" name="图片 79">
            <a:extLst>
              <a:ext uri="{FF2B5EF4-FFF2-40B4-BE49-F238E27FC236}">
                <a16:creationId xmlns:a16="http://schemas.microsoft.com/office/drawing/2014/main" id="{2C092143-13B2-FEB3-6D01-9CABA7E5E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9987" y="12516380"/>
            <a:ext cx="11810660" cy="10162396"/>
          </a:xfrm>
          <a:prstGeom prst="rect">
            <a:avLst/>
          </a:prstGeom>
        </p:spPr>
      </p:pic>
      <p:pic>
        <p:nvPicPr>
          <p:cNvPr id="1027" name="Picture 4">
            <a:extLst>
              <a:ext uri="{FF2B5EF4-FFF2-40B4-BE49-F238E27FC236}">
                <a16:creationId xmlns:a16="http://schemas.microsoft.com/office/drawing/2014/main" id="{026D7466-3AA2-690E-A921-7CA2DAE142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207"/>
          <a:stretch/>
        </p:blipFill>
        <p:spPr bwMode="auto">
          <a:xfrm>
            <a:off x="254054" y="308120"/>
            <a:ext cx="2067456" cy="220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图片 1028">
            <a:extLst>
              <a:ext uri="{FF2B5EF4-FFF2-40B4-BE49-F238E27FC236}">
                <a16:creationId xmlns:a16="http://schemas.microsoft.com/office/drawing/2014/main" id="{22F26E90-954B-45F0-F63B-C7BF0F81A6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27179" y="595798"/>
            <a:ext cx="1681076" cy="1681076"/>
          </a:xfrm>
          <a:prstGeom prst="rect">
            <a:avLst/>
          </a:prstGeom>
        </p:spPr>
      </p:pic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D65208FE-B509-5D6B-FF80-6B5E1B07E748}"/>
              </a:ext>
            </a:extLst>
          </p:cNvPr>
          <p:cNvCxnSpPr>
            <a:cxnSpLocks/>
          </p:cNvCxnSpPr>
          <p:nvPr/>
        </p:nvCxnSpPr>
        <p:spPr>
          <a:xfrm>
            <a:off x="12677807" y="15019506"/>
            <a:ext cx="0" cy="765927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矩形: 圆角 1038">
            <a:extLst>
              <a:ext uri="{FF2B5EF4-FFF2-40B4-BE49-F238E27FC236}">
                <a16:creationId xmlns:a16="http://schemas.microsoft.com/office/drawing/2014/main" id="{EF4EA923-3713-EF93-57EF-64E5E087BB1E}"/>
              </a:ext>
            </a:extLst>
          </p:cNvPr>
          <p:cNvSpPr/>
          <p:nvPr/>
        </p:nvSpPr>
        <p:spPr>
          <a:xfrm>
            <a:off x="9551493" y="23126886"/>
            <a:ext cx="6096987" cy="7084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latin typeface="Calibri" panose="020F0502020204030204" pitchFamily="34" charset="0"/>
                <a:cs typeface="Calibri" panose="020F0502020204030204" pitchFamily="34" charset="0"/>
              </a:rPr>
              <a:t>Experiments</a:t>
            </a: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6F063301-2508-80D6-2EF7-51762126E840}"/>
              </a:ext>
            </a:extLst>
          </p:cNvPr>
          <p:cNvSpPr txBox="1"/>
          <p:nvPr/>
        </p:nvSpPr>
        <p:spPr>
          <a:xfrm>
            <a:off x="12599987" y="24204904"/>
            <a:ext cx="1203899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dirty="0"/>
              <a:t>AP2O (</a:t>
            </a:r>
            <a:r>
              <a:rPr lang="en-US" altLang="zh-CN" sz="3200" b="1" dirty="0"/>
              <a:t>H2L</a:t>
            </a:r>
            <a:r>
              <a:rPr lang="en-US" altLang="zh-CN" sz="3200" dirty="0"/>
              <a:t>) is better for </a:t>
            </a:r>
            <a:r>
              <a:rPr lang="en-US" altLang="zh-CN" sz="3200" u="sng" dirty="0"/>
              <a:t>large models</a:t>
            </a:r>
            <a:r>
              <a:rPr lang="en-US" altLang="zh-CN" sz="3200" dirty="0"/>
              <a:t>. 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sz="2800" b="1" dirty="0"/>
              <a:t>Concentration </a:t>
            </a:r>
            <a:r>
              <a:rPr lang="en-US" altLang="zh-CN" sz="2800" dirty="0"/>
              <a:t>then</a:t>
            </a:r>
            <a:r>
              <a:rPr lang="en-US" altLang="zh-CN" sz="2800" b="1" dirty="0"/>
              <a:t> exploration </a:t>
            </a:r>
            <a:r>
              <a:rPr lang="en-US" altLang="zh-CN" sz="2800" dirty="0"/>
              <a:t>fits</a:t>
            </a:r>
            <a:r>
              <a:rPr lang="en-US" altLang="zh-CN" sz="2800" b="1" dirty="0"/>
              <a:t> mature LLMs 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H: LLM sees </a:t>
            </a:r>
            <a:r>
              <a:rPr lang="en-US" altLang="zh-CN" sz="2800" b="1" dirty="0"/>
              <a:t>identical</a:t>
            </a:r>
            <a:r>
              <a:rPr lang="en-US" altLang="zh-CN" sz="2800" dirty="0"/>
              <a:t> </a:t>
            </a:r>
            <a:r>
              <a:rPr lang="en-US" altLang="zh-CN" sz="2800" b="1" dirty="0"/>
              <a:t>error types</a:t>
            </a:r>
            <a:r>
              <a:rPr lang="en-US" altLang="zh-CN" sz="2800" dirty="0"/>
              <a:t> in adjacent updating steps - </a:t>
            </a:r>
            <a:r>
              <a:rPr lang="en-US" altLang="zh-CN" sz="2800" b="1" dirty="0">
                <a:solidFill>
                  <a:srgbClr val="C00000"/>
                </a:solidFill>
              </a:rPr>
              <a:t>specification</a:t>
            </a:r>
            <a:endParaRPr lang="en-US" altLang="zh-CN" sz="2800" b="1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L: LLM sees </a:t>
            </a:r>
            <a:r>
              <a:rPr lang="en-US" altLang="zh-CN" sz="2800" b="1" dirty="0"/>
              <a:t>various error types</a:t>
            </a:r>
            <a:r>
              <a:rPr lang="en-US" altLang="zh-CN" sz="2800" dirty="0"/>
              <a:t> in adjacent updating steps - </a:t>
            </a:r>
            <a:r>
              <a:rPr lang="en-US" altLang="zh-CN" sz="2800" b="1" dirty="0">
                <a:solidFill>
                  <a:srgbClr val="C00000"/>
                </a:solidFill>
              </a:rPr>
              <a:t>generalization</a:t>
            </a:r>
            <a:endParaRPr lang="en-US" altLang="zh-CN" sz="3600" b="1" dirty="0"/>
          </a:p>
        </p:txBody>
      </p:sp>
      <p:pic>
        <p:nvPicPr>
          <p:cNvPr id="1042" name="图片 1041">
            <a:extLst>
              <a:ext uri="{FF2B5EF4-FFF2-40B4-BE49-F238E27FC236}">
                <a16:creationId xmlns:a16="http://schemas.microsoft.com/office/drawing/2014/main" id="{F49FA37A-DAA2-3662-7E3C-FA61425537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99987" y="26338144"/>
            <a:ext cx="11623368" cy="3595070"/>
          </a:xfrm>
          <a:prstGeom prst="rect">
            <a:avLst/>
          </a:prstGeom>
        </p:spPr>
      </p:pic>
      <p:sp>
        <p:nvSpPr>
          <p:cNvPr id="1044" name="文本框 1043">
            <a:extLst>
              <a:ext uri="{FF2B5EF4-FFF2-40B4-BE49-F238E27FC236}">
                <a16:creationId xmlns:a16="http://schemas.microsoft.com/office/drawing/2014/main" id="{466370EA-F9C8-8362-F831-D7DC5BD813B9}"/>
              </a:ext>
            </a:extLst>
          </p:cNvPr>
          <p:cNvSpPr txBox="1"/>
          <p:nvPr/>
        </p:nvSpPr>
        <p:spPr>
          <a:xfrm>
            <a:off x="1054440" y="24167587"/>
            <a:ext cx="7285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dirty="0"/>
              <a:t>AP2O </a:t>
            </a:r>
            <a:r>
              <a:rPr lang="en-US" altLang="zh-CN" sz="3200" b="1" dirty="0"/>
              <a:t>reduces code errors</a:t>
            </a:r>
          </a:p>
        </p:txBody>
      </p:sp>
      <p:pic>
        <p:nvPicPr>
          <p:cNvPr id="1045" name="图片 1044">
            <a:extLst>
              <a:ext uri="{FF2B5EF4-FFF2-40B4-BE49-F238E27FC236}">
                <a16:creationId xmlns:a16="http://schemas.microsoft.com/office/drawing/2014/main" id="{B2F5F420-F90A-3187-5658-7319B6A1EB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440" y="24791785"/>
            <a:ext cx="11545546" cy="5626818"/>
          </a:xfrm>
          <a:prstGeom prst="rect">
            <a:avLst/>
          </a:prstGeom>
        </p:spPr>
      </p:pic>
      <p:sp>
        <p:nvSpPr>
          <p:cNvPr id="1046" name="文本框 1045">
            <a:extLst>
              <a:ext uri="{FF2B5EF4-FFF2-40B4-BE49-F238E27FC236}">
                <a16:creationId xmlns:a16="http://schemas.microsoft.com/office/drawing/2014/main" id="{5A4BC85F-09FF-0C43-773F-14057C7F74E6}"/>
              </a:ext>
            </a:extLst>
          </p:cNvPr>
          <p:cNvSpPr txBox="1"/>
          <p:nvPr/>
        </p:nvSpPr>
        <p:spPr>
          <a:xfrm>
            <a:off x="1054440" y="30689047"/>
            <a:ext cx="1130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dirty="0"/>
              <a:t>AP2O is also sample </a:t>
            </a:r>
            <a:r>
              <a:rPr lang="en-US" altLang="zh-CN" sz="3200" b="1" dirty="0"/>
              <a:t>efficient</a:t>
            </a:r>
            <a:r>
              <a:rPr lang="en-US" altLang="zh-CN" sz="3200" dirty="0"/>
              <a:t> (only using </a:t>
            </a:r>
            <a:r>
              <a:rPr lang="en-US" altLang="zh-CN" sz="3200" b="1" dirty="0">
                <a:solidFill>
                  <a:srgbClr val="C00000"/>
                </a:solidFill>
              </a:rPr>
              <a:t>4%~60% data</a:t>
            </a:r>
            <a:r>
              <a:rPr lang="en-US" altLang="zh-CN" sz="3200" dirty="0"/>
              <a:t>) </a:t>
            </a:r>
          </a:p>
        </p:txBody>
      </p:sp>
      <p:pic>
        <p:nvPicPr>
          <p:cNvPr id="1047" name="图片 1046">
            <a:extLst>
              <a:ext uri="{FF2B5EF4-FFF2-40B4-BE49-F238E27FC236}">
                <a16:creationId xmlns:a16="http://schemas.microsoft.com/office/drawing/2014/main" id="{257BCA80-EDB9-97CD-7C5A-23D9EB4BC4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439" y="31429053"/>
            <a:ext cx="11305679" cy="2805447"/>
          </a:xfrm>
          <a:prstGeom prst="rect">
            <a:avLst/>
          </a:prstGeom>
        </p:spPr>
      </p:pic>
      <p:sp>
        <p:nvSpPr>
          <p:cNvPr id="1048" name="文本框 1047">
            <a:extLst>
              <a:ext uri="{FF2B5EF4-FFF2-40B4-BE49-F238E27FC236}">
                <a16:creationId xmlns:a16="http://schemas.microsoft.com/office/drawing/2014/main" id="{CA809FF0-5E00-4026-F482-1E770CD03B5B}"/>
              </a:ext>
            </a:extLst>
          </p:cNvPr>
          <p:cNvSpPr txBox="1"/>
          <p:nvPr/>
        </p:nvSpPr>
        <p:spPr>
          <a:xfrm>
            <a:off x="12677807" y="30203658"/>
            <a:ext cx="11305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dirty="0"/>
              <a:t>AP2O can </a:t>
            </a:r>
            <a:r>
              <a:rPr lang="en-US" altLang="zh-CN" sz="3200" b="1" dirty="0"/>
              <a:t>adapt</a:t>
            </a:r>
            <a:r>
              <a:rPr lang="en-US" altLang="zh-CN" sz="3200" dirty="0"/>
              <a:t> general LLMs to the code domain</a:t>
            </a:r>
          </a:p>
        </p:txBody>
      </p:sp>
      <p:pic>
        <p:nvPicPr>
          <p:cNvPr id="1050" name="图片 1049" descr="图表, 条形图&#10;&#10;AI 生成的内容可能不正确。">
            <a:extLst>
              <a:ext uri="{FF2B5EF4-FFF2-40B4-BE49-F238E27FC236}">
                <a16:creationId xmlns:a16="http://schemas.microsoft.com/office/drawing/2014/main" id="{EDA10569-65A3-5DD0-268A-C87CF293EC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99986" y="30788433"/>
            <a:ext cx="11545547" cy="3446067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D2018791-7757-A58C-53FF-A7EBF209BC8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1851" y="34644451"/>
            <a:ext cx="952500" cy="952500"/>
          </a:xfrm>
          <a:prstGeom prst="rect">
            <a:avLst/>
          </a:prstGeom>
        </p:spPr>
      </p:pic>
      <p:sp>
        <p:nvSpPr>
          <p:cNvPr id="1056" name="文本框 1055">
            <a:extLst>
              <a:ext uri="{FF2B5EF4-FFF2-40B4-BE49-F238E27FC236}">
                <a16:creationId xmlns:a16="http://schemas.microsoft.com/office/drawing/2014/main" id="{0989761B-3803-D4A1-32A0-253BECAEC5AE}"/>
              </a:ext>
            </a:extLst>
          </p:cNvPr>
          <p:cNvSpPr txBox="1"/>
          <p:nvPr/>
        </p:nvSpPr>
        <p:spPr>
          <a:xfrm>
            <a:off x="6857753" y="34566703"/>
            <a:ext cx="228283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tsingz</a:t>
            </a:r>
            <a:endParaRPr lang="zh-CN" altLang="en-US" sz="6600" dirty="0"/>
          </a:p>
        </p:txBody>
      </p:sp>
      <p:pic>
        <p:nvPicPr>
          <p:cNvPr id="1058" name="图片 1057">
            <a:extLst>
              <a:ext uri="{FF2B5EF4-FFF2-40B4-BE49-F238E27FC236}">
                <a16:creationId xmlns:a16="http://schemas.microsoft.com/office/drawing/2014/main" id="{B1DD6C55-7516-1983-886A-42BA3E2126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4995" y="34354467"/>
            <a:ext cx="1493400" cy="1493400"/>
          </a:xfrm>
          <a:prstGeom prst="rect">
            <a:avLst/>
          </a:prstGeom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B187B191-F630-EEEA-FA4B-62643EEE24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161424" y="34604331"/>
            <a:ext cx="1146510" cy="1146510"/>
          </a:xfrm>
          <a:prstGeom prst="rect">
            <a:avLst/>
          </a:prstGeom>
        </p:spPr>
      </p:pic>
      <p:sp>
        <p:nvSpPr>
          <p:cNvPr id="1063" name="文本框 1062">
            <a:extLst>
              <a:ext uri="{FF2B5EF4-FFF2-40B4-BE49-F238E27FC236}">
                <a16:creationId xmlns:a16="http://schemas.microsoft.com/office/drawing/2014/main" id="{782EFD9E-C17B-5D17-63DD-F7CEAACBDAAF}"/>
              </a:ext>
            </a:extLst>
          </p:cNvPr>
          <p:cNvSpPr txBox="1"/>
          <p:nvPr/>
        </p:nvSpPr>
        <p:spPr>
          <a:xfrm>
            <a:off x="10973908" y="34547169"/>
            <a:ext cx="703095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1" dirty="0">
                <a:latin typeface="Calibri" panose="020F0502020204030204" pitchFamily="34" charset="0"/>
                <a:cs typeface="Calibri" panose="020F0502020204030204" pitchFamily="34" charset="0"/>
              </a:rPr>
              <a:t>tsingz@sjtu.edu.cn</a:t>
            </a:r>
            <a:endParaRPr lang="zh-CN" altLang="en-US" sz="6600" dirty="0"/>
          </a:p>
        </p:txBody>
      </p:sp>
      <p:sp>
        <p:nvSpPr>
          <p:cNvPr id="1064" name="文本框 1063">
            <a:extLst>
              <a:ext uri="{FF2B5EF4-FFF2-40B4-BE49-F238E27FC236}">
                <a16:creationId xmlns:a16="http://schemas.microsoft.com/office/drawing/2014/main" id="{00BE0BAA-90E1-6AE4-306C-8C7030F4F3F7}"/>
              </a:ext>
            </a:extLst>
          </p:cNvPr>
          <p:cNvSpPr txBox="1"/>
          <p:nvPr/>
        </p:nvSpPr>
        <p:spPr>
          <a:xfrm>
            <a:off x="19489638" y="34639306"/>
            <a:ext cx="281790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1" dirty="0">
                <a:latin typeface="Calibri" panose="020F0502020204030204" pitchFamily="34" charset="0"/>
                <a:cs typeface="Calibri" panose="020F0502020204030204" pitchFamily="34" charset="0"/>
              </a:rPr>
              <a:t>TsingZ0</a:t>
            </a:r>
            <a:endParaRPr lang="zh-CN" altLang="en-US" sz="6600" dirty="0"/>
          </a:p>
        </p:txBody>
      </p:sp>
      <p:pic>
        <p:nvPicPr>
          <p:cNvPr id="1065" name="图片 1064">
            <a:extLst>
              <a:ext uri="{FF2B5EF4-FFF2-40B4-BE49-F238E27FC236}">
                <a16:creationId xmlns:a16="http://schemas.microsoft.com/office/drawing/2014/main" id="{0685F481-A8BB-35F6-A932-E23D8927BDB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8402" y="33998350"/>
            <a:ext cx="1603646" cy="1603646"/>
          </a:xfrm>
          <a:prstGeom prst="rect">
            <a:avLst/>
          </a:prstGeom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C20C987B-A29E-E3F9-CB3D-9924A8993FC1}"/>
              </a:ext>
            </a:extLst>
          </p:cNvPr>
          <p:cNvPicPr>
            <a:picLocks/>
          </p:cNvPicPr>
          <p:nvPr/>
        </p:nvPicPr>
        <p:blipFill>
          <a:blip r:embed="rId16"/>
          <a:srcRect l="18533" t="11730" r="18621" b="10687"/>
          <a:stretch>
            <a:fillRect/>
          </a:stretch>
        </p:blipFill>
        <p:spPr>
          <a:xfrm>
            <a:off x="19106148" y="2645748"/>
            <a:ext cx="1684421" cy="2079360"/>
          </a:xfrm>
          <a:prstGeom prst="rect">
            <a:avLst/>
          </a:prstGeom>
        </p:spPr>
      </p:pic>
      <p:pic>
        <p:nvPicPr>
          <p:cNvPr id="1069" name="图片 1068">
            <a:extLst>
              <a:ext uri="{FF2B5EF4-FFF2-40B4-BE49-F238E27FC236}">
                <a16:creationId xmlns:a16="http://schemas.microsoft.com/office/drawing/2014/main" id="{E8BEA39E-6FB7-CB0D-BA67-295F771EC952}"/>
              </a:ext>
            </a:extLst>
          </p:cNvPr>
          <p:cNvPicPr>
            <a:picLocks/>
          </p:cNvPicPr>
          <p:nvPr/>
        </p:nvPicPr>
        <p:blipFill>
          <a:blip r:embed="rId17"/>
          <a:srcRect l="4141" t="32628" r="5156" b="32836"/>
          <a:stretch>
            <a:fillRect/>
          </a:stretch>
        </p:blipFill>
        <p:spPr>
          <a:xfrm>
            <a:off x="752233" y="2550016"/>
            <a:ext cx="4688305" cy="937921"/>
          </a:xfrm>
          <a:prstGeom prst="rect">
            <a:avLst/>
          </a:prstGeom>
        </p:spPr>
      </p:pic>
      <p:pic>
        <p:nvPicPr>
          <p:cNvPr id="1071" name="图片 1070">
            <a:extLst>
              <a:ext uri="{FF2B5EF4-FFF2-40B4-BE49-F238E27FC236}">
                <a16:creationId xmlns:a16="http://schemas.microsoft.com/office/drawing/2014/main" id="{0298E65E-F19F-4624-F804-5E4665DC19F8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23111355" y="2738441"/>
            <a:ext cx="1447874" cy="1465603"/>
          </a:xfrm>
          <a:prstGeom prst="rect">
            <a:avLst/>
          </a:prstGeom>
        </p:spPr>
      </p:pic>
      <p:sp>
        <p:nvSpPr>
          <p:cNvPr id="1072" name="文本框 1071">
            <a:extLst>
              <a:ext uri="{FF2B5EF4-FFF2-40B4-BE49-F238E27FC236}">
                <a16:creationId xmlns:a16="http://schemas.microsoft.com/office/drawing/2014/main" id="{62BC937C-D093-1FDE-9CBE-807890D68A45}"/>
              </a:ext>
            </a:extLst>
          </p:cNvPr>
          <p:cNvSpPr txBox="1"/>
          <p:nvPr/>
        </p:nvSpPr>
        <p:spPr>
          <a:xfrm>
            <a:off x="22990841" y="4181355"/>
            <a:ext cx="1697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Hiring !!!</a:t>
            </a:r>
            <a:endParaRPr lang="en-US" altLang="zh-CN" sz="3200" b="1" baseline="300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75" name="图片 1074" descr="QR 代码&#10;&#10;AI 生成的内容可能不正确。">
            <a:extLst>
              <a:ext uri="{FF2B5EF4-FFF2-40B4-BE49-F238E27FC236}">
                <a16:creationId xmlns:a16="http://schemas.microsoft.com/office/drawing/2014/main" id="{76009B60-F874-C462-89A9-98499F8F747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230200" y="2747306"/>
            <a:ext cx="1441524" cy="1460575"/>
          </a:xfrm>
          <a:prstGeom prst="rect">
            <a:avLst/>
          </a:prstGeom>
        </p:spPr>
      </p:pic>
      <p:sp>
        <p:nvSpPr>
          <p:cNvPr id="1076" name="文本框 1075">
            <a:extLst>
              <a:ext uri="{FF2B5EF4-FFF2-40B4-BE49-F238E27FC236}">
                <a16:creationId xmlns:a16="http://schemas.microsoft.com/office/drawing/2014/main" id="{77032E89-D865-762F-067D-F95DF2226F61}"/>
              </a:ext>
            </a:extLst>
          </p:cNvPr>
          <p:cNvSpPr txBox="1"/>
          <p:nvPr/>
        </p:nvSpPr>
        <p:spPr>
          <a:xfrm>
            <a:off x="21425818" y="4181355"/>
            <a:ext cx="1050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endParaRPr lang="en-US" altLang="zh-CN" sz="3200" b="1" baseline="300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 descr="QR 代码&#10;&#10;AI 生成的内容可能不正确。">
            <a:extLst>
              <a:ext uri="{FF2B5EF4-FFF2-40B4-BE49-F238E27FC236}">
                <a16:creationId xmlns:a16="http://schemas.microsoft.com/office/drawing/2014/main" id="{25179222-D753-ED7B-FB02-E977A9D0707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82894" y="3899353"/>
            <a:ext cx="1477224" cy="148291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774ED78-1A95-120E-8357-FE1C53545DFF}"/>
              </a:ext>
            </a:extLst>
          </p:cNvPr>
          <p:cNvSpPr txBox="1"/>
          <p:nvPr/>
        </p:nvSpPr>
        <p:spPr>
          <a:xfrm>
            <a:off x="10885472" y="5438646"/>
            <a:ext cx="1472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Mentor</a:t>
            </a:r>
            <a:endParaRPr lang="en-US" altLang="zh-CN" sz="3200" b="1" baseline="300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BBFCCC-56CA-DC3B-ED9D-807CB3E5314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10052" y="3936096"/>
            <a:ext cx="1477224" cy="147169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1BE24F5-9E5B-F2B3-D52E-A6D7E86CB41A}"/>
              </a:ext>
            </a:extLst>
          </p:cNvPr>
          <p:cNvSpPr txBox="1"/>
          <p:nvPr/>
        </p:nvSpPr>
        <p:spPr>
          <a:xfrm>
            <a:off x="9573401" y="5438646"/>
            <a:ext cx="750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</a:t>
            </a:r>
            <a:endParaRPr lang="en-US" altLang="zh-CN" sz="3200" b="1" baseline="300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94EB58-9646-4B0D-9373-9097489BA7B2}"/>
              </a:ext>
            </a:extLst>
          </p:cNvPr>
          <p:cNvSpPr txBox="1"/>
          <p:nvPr/>
        </p:nvSpPr>
        <p:spPr>
          <a:xfrm>
            <a:off x="7493000" y="14043628"/>
            <a:ext cx="4864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https://www.codebuddy.ai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54D3682-12A7-98B6-81B6-12F63663411B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325" r="74982"/>
          <a:stretch>
            <a:fillRect/>
          </a:stretch>
        </p:blipFill>
        <p:spPr>
          <a:xfrm>
            <a:off x="934054" y="34604331"/>
            <a:ext cx="1278300" cy="82381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5133AAD-AC60-73AE-4ADD-E991755FCFAF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0" t="30812" r="51295" b="15191"/>
          <a:stretch>
            <a:fillRect/>
          </a:stretch>
        </p:blipFill>
        <p:spPr>
          <a:xfrm>
            <a:off x="2212354" y="34515502"/>
            <a:ext cx="3084495" cy="115919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QwOGJjMjA4MWU4MWRiN2Q0NTM0YWQ2ZjIzMWRlYj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168</TotalTime>
  <Words>279</Words>
  <Application>Microsoft Office PowerPoint</Application>
  <PresentationFormat>自定义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张辰皓</dc:creator>
  <cp:lastModifiedBy>Tsing Zhang</cp:lastModifiedBy>
  <cp:revision>312</cp:revision>
  <cp:lastPrinted>2026-01-11T11:35:12Z</cp:lastPrinted>
  <dcterms:created xsi:type="dcterms:W3CDTF">2026-01-11T11:35:12Z</dcterms:created>
  <dcterms:modified xsi:type="dcterms:W3CDTF">2026-01-16T11:03:40Z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2052-12.1.23141.23141</vt:lpwstr>
  </property>
  <property fmtid="{D5CDD505-2E9C-101B-9397-08002B2CF9AE}" pid="3" name="ICV">
    <vt:lpwstr>7060A2C9D886472B8FA7A8EB388306BD_12</vt:lpwstr>
  </property>
</Properties>
</file>